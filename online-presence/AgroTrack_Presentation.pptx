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457200" y="1828800"/>
            <a:ext cx="8229600" cy="109728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AgroTrack+</a:t>
            </a:r>
            <a:endParaRPr lang="en-US" sz="4800" dirty="0"/>
          </a:p>
        </p:txBody>
      </p:sp>
      <p:sp>
        <p:nvSpPr>
          <p:cNvPr id="3" name="Text 1"/>
          <p:cNvSpPr/>
          <p:nvPr/>
        </p:nvSpPr>
        <p:spPr>
          <a:xfrm>
            <a:off x="457200" y="3017520"/>
            <a:ext cx="8229600" cy="914400"/>
          </a:xfrm>
          <a:prstGeom prst="rect">
            <a:avLst/>
          </a:prstGeom>
          <a:noFill/>
          <a:ln/>
        </p:spPr>
        <p:txBody>
          <a:bodyPr wrap="square" rtlCol="0" anchor="ctr"/>
          <a:lstStyle/>
          <a:p>
            <a:pPr algn="ctr" indent="0" marL="0">
              <a:buNone/>
            </a:pPr>
            <a:r>
              <a:rPr lang="en-US" sz="2000" dirty="0">
                <a:solidFill>
                  <a:srgbClr val="F5F5F5"/>
                </a:solidFill>
                <a:latin typeface="Calibri" pitchFamily="34" charset="0"/>
                <a:ea typeface="Calibri" pitchFamily="34" charset="-122"/>
                <a:cs typeface="Calibri" pitchFamily="34" charset="-120"/>
              </a:rPr>
              <a:t>A Smart Application for Monitoring Farm Productivity</a:t>
            </a:r>
            <a:endParaRPr lang="en-US" sz="2000" dirty="0"/>
          </a:p>
          <a:p>
            <a:pPr algn="ctr" indent="0" marL="0">
              <a:buNone/>
            </a:pPr>
            <a:r>
              <a:rPr lang="en-US" sz="2000" dirty="0">
                <a:solidFill>
                  <a:srgbClr val="F5F5F5"/>
                </a:solidFill>
                <a:latin typeface="Calibri" pitchFamily="34" charset="0"/>
                <a:ea typeface="Calibri" pitchFamily="34" charset="-122"/>
                <a:cs typeface="Calibri" pitchFamily="34" charset="-120"/>
              </a:rPr>
              <a:t>and Diagnosing Plant and Animal Diseases</a:t>
            </a:r>
            <a:endParaRPr lang="en-US" sz="2000" dirty="0"/>
          </a:p>
        </p:txBody>
      </p:sp>
      <p:sp>
        <p:nvSpPr>
          <p:cNvPr id="4" name="Text 2"/>
          <p:cNvSpPr/>
          <p:nvPr/>
        </p:nvSpPr>
        <p:spPr>
          <a:xfrm>
            <a:off x="457200" y="4572000"/>
            <a:ext cx="8229600" cy="731520"/>
          </a:xfrm>
          <a:prstGeom prst="rect">
            <a:avLst/>
          </a:prstGeom>
          <a:noFill/>
          <a:ln/>
        </p:spPr>
        <p:txBody>
          <a:bodyPr wrap="square" rtlCol="0" anchor="ctr"/>
          <a:lstStyle/>
          <a:p>
            <a:pPr algn="ctr" indent="0" marL="0">
              <a:buNone/>
            </a:pPr>
            <a:r>
              <a:rPr lang="en-US" sz="1400" i="1" dirty="0">
                <a:solidFill>
                  <a:srgbClr val="97BC62"/>
                </a:solidFill>
                <a:latin typeface="Calibri" pitchFamily="34" charset="0"/>
                <a:ea typeface="Calibri" pitchFamily="34" charset="-122"/>
                <a:cs typeface="Calibri" pitchFamily="34" charset="-120"/>
              </a:rPr>
              <a:t>Presented By:</a:t>
            </a:r>
            <a:endParaRPr lang="en-US" sz="1400" dirty="0"/>
          </a:p>
          <a:p>
            <a:pPr algn="ctr" indent="0" marL="0">
              <a:buNone/>
            </a:pPr>
            <a:r>
              <a:rPr lang="en-US" sz="1400" i="1" dirty="0">
                <a:solidFill>
                  <a:srgbClr val="97BC62"/>
                </a:solidFill>
                <a:latin typeface="Calibri" pitchFamily="34" charset="0"/>
                <a:ea typeface="Calibri" pitchFamily="34" charset="-122"/>
                <a:cs typeface="Calibri" pitchFamily="34" charset="-120"/>
              </a:rPr>
              <a:t>Wanyiri Mark Kagiri | Ndumia Victor Wanyeki | Mugendi Rodgers Munene</a:t>
            </a:r>
            <a:endParaRPr lang="en-US" sz="1400" dirty="0"/>
          </a:p>
        </p:txBody>
      </p:sp>
      <p:sp>
        <p:nvSpPr>
          <p:cNvPr id="5" name="Shape 3"/>
          <p:cNvSpPr/>
          <p:nvPr/>
        </p:nvSpPr>
        <p:spPr>
          <a:xfrm>
            <a:off x="0" y="6400800"/>
            <a:ext cx="9144000" cy="457200"/>
          </a:xfrm>
          <a:prstGeom prst="rect">
            <a:avLst/>
          </a:prstGeom>
          <a:solidFill>
            <a:srgbClr val="97BC62"/>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600" b="1" dirty="0">
                <a:solidFill>
                  <a:srgbClr val="2C5F2D"/>
                </a:solidFill>
                <a:latin typeface="Georgia" pitchFamily="34" charset="0"/>
                <a:ea typeface="Georgia" pitchFamily="34" charset="-122"/>
                <a:cs typeface="Georgia" pitchFamily="34" charset="-120"/>
              </a:rPr>
              <a:t>Problem &amp; Objective</a:t>
            </a:r>
            <a:endParaRPr lang="en-US" sz="3600" dirty="0"/>
          </a:p>
        </p:txBody>
      </p:sp>
      <p:sp>
        <p:nvSpPr>
          <p:cNvPr id="3" name="Shape 1"/>
          <p:cNvSpPr/>
          <p:nvPr/>
        </p:nvSpPr>
        <p:spPr>
          <a:xfrm>
            <a:off x="457200" y="960120"/>
            <a:ext cx="2286000" cy="73152"/>
          </a:xfrm>
          <a:prstGeom prst="rect">
            <a:avLst/>
          </a:prstGeom>
          <a:solidFill>
            <a:srgbClr val="97BC62"/>
          </a:solidFill>
          <a:ln/>
        </p:spPr>
      </p:sp>
      <p:sp>
        <p:nvSpPr>
          <p:cNvPr id="4" name="Shape 2"/>
          <p:cNvSpPr/>
          <p:nvPr/>
        </p:nvSpPr>
        <p:spPr>
          <a:xfrm>
            <a:off x="548640" y="1371600"/>
            <a:ext cx="457200" cy="457200"/>
          </a:xfrm>
          <a:prstGeom prst="ellipse">
            <a:avLst/>
          </a:prstGeom>
          <a:solidFill>
            <a:srgbClr val="2C5F2D"/>
          </a:solidFill>
          <a:ln/>
        </p:spPr>
      </p:sp>
      <p:sp>
        <p:nvSpPr>
          <p:cNvPr id="5" name="Text 3"/>
          <p:cNvSpPr/>
          <p:nvPr/>
        </p:nvSpPr>
        <p:spPr>
          <a:xfrm>
            <a:off x="548640" y="1371600"/>
            <a:ext cx="457200" cy="457200"/>
          </a:xfrm>
          <a:prstGeom prst="rect">
            <a:avLst/>
          </a:prstGeom>
          <a:noFill/>
          <a:ln/>
        </p:spPr>
        <p:txBody>
          <a:bodyPr wrap="square" rtlCol="0" anchor="ctr"/>
          <a:lstStyle/>
          <a:p>
            <a:pPr algn="ctr" indent="0" marL="0">
              <a:buNone/>
            </a:pPr>
            <a:r>
              <a:rPr lang="en-US" sz="2400" dirty="0">
                <a:solidFill>
                  <a:srgbClr val="FFFFFF"/>
                </a:solidFill>
              </a:rPr>
              <a:t>⚠</a:t>
            </a:r>
            <a:endParaRPr lang="en-US" sz="2400" dirty="0"/>
          </a:p>
        </p:txBody>
      </p:sp>
      <p:sp>
        <p:nvSpPr>
          <p:cNvPr id="6" name="Text 4"/>
          <p:cNvSpPr/>
          <p:nvPr/>
        </p:nvSpPr>
        <p:spPr>
          <a:xfrm>
            <a:off x="1188720" y="1371600"/>
            <a:ext cx="7498080" cy="457200"/>
          </a:xfrm>
          <a:prstGeom prst="rect">
            <a:avLst/>
          </a:prstGeom>
          <a:noFill/>
          <a:ln/>
        </p:spPr>
        <p:txBody>
          <a:bodyPr wrap="square"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Problem Statement</a:t>
            </a:r>
            <a:endParaRPr lang="en-US" sz="2200" dirty="0"/>
          </a:p>
        </p:txBody>
      </p:sp>
      <p:sp>
        <p:nvSpPr>
          <p:cNvPr id="7" name="Text 5"/>
          <p:cNvSpPr/>
          <p:nvPr/>
        </p:nvSpPr>
        <p:spPr>
          <a:xfrm>
            <a:off x="548640" y="1965960"/>
            <a:ext cx="8046720" cy="1280160"/>
          </a:xfrm>
          <a:prstGeom prst="rect">
            <a:avLst/>
          </a:prstGeom>
          <a:noFill/>
          <a:ln/>
        </p:spPr>
        <p:txBody>
          <a:bodyPr wrap="square" rtlCol="0" anchor="t"/>
          <a:lstStyle/>
          <a:p>
            <a:pPr algn="l" indent="0" marL="0">
              <a:buNone/>
            </a:pPr>
            <a:r>
              <a:rPr lang="en-US" dirty="0">
                <a:solidFill>
                  <a:srgbClr val="1A1A1A"/>
                </a:solidFill>
                <a:latin typeface="Calibri" pitchFamily="34" charset="0"/>
                <a:ea typeface="Calibri" pitchFamily="34" charset="-122"/>
                <a:cs typeface="Calibri" pitchFamily="34" charset="-120"/>
              </a:rPr>
              <a:t>Smallholder farmers in Kenya face significant challenges in maintaining productivity due to the </a:t>
            </a:r>
            <a:pPr algn="l" indent="0" marL="0">
              <a:buNone/>
            </a:pPr>
            <a:r>
              <a:rPr lang="en-US" dirty="0">
                <a:solidFill>
                  <a:srgbClr val="1A1A1A"/>
                </a:solidFill>
                <a:latin typeface="Calibri" pitchFamily="34" charset="0"/>
                <a:ea typeface="Calibri" pitchFamily="34" charset="-122"/>
                <a:cs typeface="Calibri" pitchFamily="34" charset="-120"/>
              </a:rPr>
              <a:t>lack of structured digital tools</a:t>
            </a:r>
            <a:pPr algn="l" indent="0" marL="0">
              <a:buNone/>
            </a:pPr>
            <a:r>
              <a:rPr lang="en-US" dirty="0">
                <a:solidFill>
                  <a:srgbClr val="1A1A1A"/>
                </a:solidFill>
                <a:latin typeface="Calibri" pitchFamily="34" charset="0"/>
                <a:ea typeface="Calibri" pitchFamily="34" charset="-122"/>
                <a:cs typeface="Calibri" pitchFamily="34" charset="-120"/>
              </a:rPr>
              <a:t> for recording farm activities, tracking seasonal outputs, and accessing timely agricultural advice. </a:t>
            </a:r>
            <a:pPr algn="l" indent="0" marL="0">
              <a:buNone/>
            </a:pPr>
            <a:r>
              <a:rPr lang="en-US" dirty="0">
                <a:solidFill>
                  <a:srgbClr val="1A1A1A"/>
                </a:solidFill>
                <a:latin typeface="Calibri" pitchFamily="34" charset="0"/>
                <a:ea typeface="Calibri" pitchFamily="34" charset="-122"/>
                <a:cs typeface="Calibri" pitchFamily="34" charset="-120"/>
              </a:rPr>
              <a:t>Manual record-keeping methods are time-consuming and error-prone</a:t>
            </a:r>
            <a:pPr algn="l" indent="0" marL="0">
              <a:buNone/>
            </a:pPr>
            <a:r>
              <a:rPr lang="en-US" dirty="0">
                <a:solidFill>
                  <a:srgbClr val="1A1A1A"/>
                </a:solidFill>
                <a:latin typeface="Calibri" pitchFamily="34" charset="0"/>
                <a:ea typeface="Calibri" pitchFamily="34" charset="-122"/>
                <a:cs typeface="Calibri" pitchFamily="34" charset="-120"/>
              </a:rPr>
              <a:t>, while </a:t>
            </a:r>
            <a:pPr algn="l" indent="0" marL="0">
              <a:buNone/>
            </a:pPr>
            <a:r>
              <a:rPr lang="en-US" dirty="0">
                <a:solidFill>
                  <a:srgbClr val="1A1A1A"/>
                </a:solidFill>
                <a:latin typeface="Calibri" pitchFamily="34" charset="0"/>
                <a:ea typeface="Calibri" pitchFamily="34" charset="-122"/>
                <a:cs typeface="Calibri" pitchFamily="34" charset="-120"/>
              </a:rPr>
              <a:t>crop and livestock diseases often go undetected</a:t>
            </a:r>
            <a:pPr algn="l" indent="0" marL="0">
              <a:buNone/>
            </a:pPr>
            <a:r>
              <a:rPr lang="en-US" dirty="0">
                <a:solidFill>
                  <a:srgbClr val="1A1A1A"/>
                </a:solidFill>
                <a:latin typeface="Calibri" pitchFamily="34" charset="0"/>
                <a:ea typeface="Calibri" pitchFamily="34" charset="-122"/>
                <a:cs typeface="Calibri" pitchFamily="34" charset="-120"/>
              </a:rPr>
              <a:t> until significant damage occurs, resulting in substantial losses.</a:t>
            </a:r>
            <a:endParaRPr lang="en-US" dirty="0"/>
          </a:p>
        </p:txBody>
      </p:sp>
      <p:sp>
        <p:nvSpPr>
          <p:cNvPr id="8" name="Shape 6"/>
          <p:cNvSpPr/>
          <p:nvPr/>
        </p:nvSpPr>
        <p:spPr>
          <a:xfrm>
            <a:off x="548640" y="3474720"/>
            <a:ext cx="457200" cy="457200"/>
          </a:xfrm>
          <a:prstGeom prst="ellipse">
            <a:avLst/>
          </a:prstGeom>
          <a:solidFill>
            <a:srgbClr val="97BC62"/>
          </a:solidFill>
          <a:ln/>
        </p:spPr>
      </p:sp>
      <p:sp>
        <p:nvSpPr>
          <p:cNvPr id="9" name="Text 7"/>
          <p:cNvSpPr/>
          <p:nvPr/>
        </p:nvSpPr>
        <p:spPr>
          <a:xfrm>
            <a:off x="548640" y="3474720"/>
            <a:ext cx="457200" cy="457200"/>
          </a:xfrm>
          <a:prstGeom prst="rect">
            <a:avLst/>
          </a:prstGeom>
          <a:noFill/>
          <a:ln/>
        </p:spPr>
        <p:txBody>
          <a:bodyPr wrap="square" rtlCol="0" anchor="ctr"/>
          <a:lstStyle/>
          <a:p>
            <a:pPr algn="ctr" indent="0" marL="0">
              <a:buNone/>
            </a:pPr>
            <a:r>
              <a:rPr lang="en-US" sz="2400" dirty="0">
                <a:solidFill>
                  <a:srgbClr val="FFFFFF"/>
                </a:solidFill>
              </a:rPr>
              <a:t>🎯</a:t>
            </a:r>
            <a:endParaRPr lang="en-US" sz="2400" dirty="0"/>
          </a:p>
        </p:txBody>
      </p:sp>
      <p:sp>
        <p:nvSpPr>
          <p:cNvPr id="10" name="Text 8"/>
          <p:cNvSpPr/>
          <p:nvPr/>
        </p:nvSpPr>
        <p:spPr>
          <a:xfrm>
            <a:off x="1188720" y="3474720"/>
            <a:ext cx="7498080" cy="457200"/>
          </a:xfrm>
          <a:prstGeom prst="rect">
            <a:avLst/>
          </a:prstGeom>
          <a:noFill/>
          <a:ln/>
        </p:spPr>
        <p:txBody>
          <a:bodyPr wrap="square"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General Objective</a:t>
            </a:r>
            <a:endParaRPr lang="en-US" sz="2200" dirty="0"/>
          </a:p>
        </p:txBody>
      </p:sp>
      <p:sp>
        <p:nvSpPr>
          <p:cNvPr id="11" name="Text 9"/>
          <p:cNvSpPr/>
          <p:nvPr/>
        </p:nvSpPr>
        <p:spPr>
          <a:xfrm>
            <a:off x="548640" y="4069080"/>
            <a:ext cx="8046720" cy="822960"/>
          </a:xfrm>
          <a:prstGeom prst="rect">
            <a:avLst/>
          </a:prstGeom>
          <a:noFill/>
          <a:ln/>
        </p:spPr>
        <p:txBody>
          <a:bodyPr wrap="square" rtlCol="0" anchor="t"/>
          <a:lstStyle/>
          <a:p>
            <a:pPr algn="l" indent="0" marL="0">
              <a:buNone/>
            </a:pPr>
            <a:r>
              <a:rPr lang="en-US" dirty="0">
                <a:solidFill>
                  <a:srgbClr val="1A1A1A"/>
                </a:solidFill>
                <a:latin typeface="Calibri" pitchFamily="34" charset="0"/>
                <a:ea typeface="Calibri" pitchFamily="34" charset="-122"/>
                <a:cs typeface="Calibri" pitchFamily="34" charset="-120"/>
              </a:rPr>
              <a:t>To develop and evaluate a </a:t>
            </a:r>
            <a:pPr algn="l" indent="0" marL="0">
              <a:buNone/>
            </a:pPr>
            <a:r>
              <a:rPr lang="en-US" dirty="0">
                <a:solidFill>
                  <a:srgbClr val="1A1A1A"/>
                </a:solidFill>
                <a:latin typeface="Calibri" pitchFamily="34" charset="0"/>
                <a:ea typeface="Calibri" pitchFamily="34" charset="-122"/>
                <a:cs typeface="Calibri" pitchFamily="34" charset="-120"/>
              </a:rPr>
              <a:t>mobile-based smart farm management system (AgroTrack+)</a:t>
            </a:r>
            <a:pPr algn="l" indent="0" marL="0">
              <a:buNone/>
            </a:pPr>
            <a:r>
              <a:rPr lang="en-US" dirty="0">
                <a:solidFill>
                  <a:srgbClr val="1A1A1A"/>
                </a:solidFill>
                <a:latin typeface="Calibri" pitchFamily="34" charset="0"/>
                <a:ea typeface="Calibri" pitchFamily="34" charset="-122"/>
                <a:cs typeface="Calibri" pitchFamily="34" charset="-120"/>
              </a:rPr>
              <a:t> that enhances productivity, decision-making, and disease detection among smallholder farmers in Kenya.</a:t>
            </a:r>
            <a:endParaRPr lang="en-US" dirty="0"/>
          </a:p>
        </p:txBody>
      </p:sp>
      <p:sp>
        <p:nvSpPr>
          <p:cNvPr id="12" name="Shape 10"/>
          <p:cNvSpPr/>
          <p:nvPr/>
        </p:nvSpPr>
        <p:spPr>
          <a:xfrm>
            <a:off x="548640" y="5120640"/>
            <a:ext cx="8046720" cy="914400"/>
          </a:xfrm>
          <a:prstGeom prst="rect">
            <a:avLst/>
          </a:prstGeom>
          <a:solidFill>
            <a:srgbClr val="D4E7C5"/>
          </a:solidFill>
          <a:ln w="25400">
            <a:solidFill>
              <a:srgbClr val="97BC62"/>
            </a:solidFill>
            <a:prstDash val="solid"/>
          </a:ln>
        </p:spPr>
      </p:sp>
      <p:sp>
        <p:nvSpPr>
          <p:cNvPr id="13" name="Text 11"/>
          <p:cNvSpPr/>
          <p:nvPr/>
        </p:nvSpPr>
        <p:spPr>
          <a:xfrm>
            <a:off x="822960" y="5257800"/>
            <a:ext cx="7498080" cy="640080"/>
          </a:xfrm>
          <a:prstGeom prst="rect">
            <a:avLst/>
          </a:prstGeom>
          <a:noFill/>
          <a:ln/>
        </p:spPr>
        <p:txBody>
          <a:bodyPr wrap="square" rtlCol="0" anchor="ctr"/>
          <a:lstStyle/>
          <a:p>
            <a:pPr algn="l" indent="0" marL="0">
              <a:buNone/>
            </a:pPr>
            <a:r>
              <a:rPr lang="en-US" sz="1300" i="1" dirty="0">
                <a:solidFill>
                  <a:srgbClr val="1A1A1A"/>
                </a:solidFill>
                <a:latin typeface="Calibri" pitchFamily="34" charset="0"/>
                <a:ea typeface="Calibri" pitchFamily="34" charset="-122"/>
                <a:cs typeface="Calibri" pitchFamily="34" charset="-120"/>
              </a:rPr>
              <a:t>Critical Gap: Existing platforms lack integration of multi-dimensional functionalities—including both crop and livestock management, seasonal activity tracking, digital record keeping, AI-based disease diagnosis, and weather-aware alerts—into a single platform tailored for smallholder farmers.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3600" b="1" dirty="0">
                <a:solidFill>
                  <a:srgbClr val="2C5F2D"/>
                </a:solidFill>
                <a:latin typeface="Georgia" pitchFamily="34" charset="0"/>
                <a:ea typeface="Georgia" pitchFamily="34" charset="-122"/>
                <a:cs typeface="Georgia" pitchFamily="34" charset="-120"/>
              </a:rPr>
              <a:t>Specific Objectives &amp; Implementation</a:t>
            </a:r>
            <a:endParaRPr lang="en-US" sz="3600" dirty="0"/>
          </a:p>
        </p:txBody>
      </p:sp>
      <p:sp>
        <p:nvSpPr>
          <p:cNvPr id="3" name="Shape 1"/>
          <p:cNvSpPr/>
          <p:nvPr/>
        </p:nvSpPr>
        <p:spPr>
          <a:xfrm>
            <a:off x="457200" y="960120"/>
            <a:ext cx="3200400" cy="73152"/>
          </a:xfrm>
          <a:prstGeom prst="rect">
            <a:avLst/>
          </a:prstGeom>
          <a:solidFill>
            <a:srgbClr val="97BC62"/>
          </a:solidFill>
          <a:ln/>
        </p:spPr>
      </p:sp>
      <p:sp>
        <p:nvSpPr>
          <p:cNvPr id="4" name="Shape 2"/>
          <p:cNvSpPr/>
          <p:nvPr/>
        </p:nvSpPr>
        <p:spPr>
          <a:xfrm>
            <a:off x="457200" y="1280160"/>
            <a:ext cx="365760" cy="365760"/>
          </a:xfrm>
          <a:prstGeom prst="ellipse">
            <a:avLst/>
          </a:prstGeom>
          <a:solidFill>
            <a:srgbClr val="2C5F2D"/>
          </a:solidFill>
          <a:ln/>
        </p:spPr>
      </p:sp>
      <p:sp>
        <p:nvSpPr>
          <p:cNvPr id="5" name="Text 3"/>
          <p:cNvSpPr/>
          <p:nvPr/>
        </p:nvSpPr>
        <p:spPr>
          <a:xfrm>
            <a:off x="457200" y="1280160"/>
            <a:ext cx="365760" cy="365760"/>
          </a:xfrm>
          <a:prstGeom prst="rect">
            <a:avLst/>
          </a:prstGeom>
          <a:noFill/>
          <a:ln/>
        </p:spPr>
        <p:txBody>
          <a:bodyPr wrap="square" rtlCol="0" anchor="ctr"/>
          <a:lstStyle/>
          <a:p>
            <a:pPr algn="ctr" indent="0" marL="0">
              <a:buNone/>
            </a:pPr>
            <a:r>
              <a:rPr lang="en-US" sz="1800" b="1" dirty="0">
                <a:solidFill>
                  <a:srgbClr val="FFFFFF"/>
                </a:solidFill>
              </a:rPr>
              <a:t>1</a:t>
            </a:r>
            <a:endParaRPr lang="en-US" sz="1800" dirty="0"/>
          </a:p>
        </p:txBody>
      </p:sp>
      <p:sp>
        <p:nvSpPr>
          <p:cNvPr id="6" name="Text 4"/>
          <p:cNvSpPr/>
          <p:nvPr/>
        </p:nvSpPr>
        <p:spPr>
          <a:xfrm>
            <a:off x="914400" y="1234440"/>
            <a:ext cx="3657600" cy="457200"/>
          </a:xfrm>
          <a:prstGeom prst="rect">
            <a:avLst/>
          </a:prstGeom>
          <a:noFill/>
          <a:ln/>
        </p:spPr>
        <p:txBody>
          <a:bodyPr wrap="square" rtlCol="0" anchor="ctr"/>
          <a:lstStyle/>
          <a:p>
            <a:pPr indent="0" marL="0">
              <a:buNone/>
            </a:pPr>
            <a:r>
              <a:rPr lang="en-US" sz="1600" b="1" dirty="0">
                <a:solidFill>
                  <a:srgbClr val="2C5F2D"/>
                </a:solidFill>
                <a:latin typeface="Georgia" pitchFamily="34" charset="0"/>
                <a:ea typeface="Georgia" pitchFamily="34" charset="-122"/>
                <a:cs typeface="Georgia" pitchFamily="34" charset="-120"/>
              </a:rPr>
              <a:t>Analyze Seasonal Performance &amp; Forecasting</a:t>
            </a:r>
            <a:endParaRPr lang="en-US" sz="1600" dirty="0"/>
          </a:p>
        </p:txBody>
      </p:sp>
      <p:sp>
        <p:nvSpPr>
          <p:cNvPr id="7" name="Text 5"/>
          <p:cNvSpPr/>
          <p:nvPr/>
        </p:nvSpPr>
        <p:spPr>
          <a:xfrm>
            <a:off x="914400" y="1691640"/>
            <a:ext cx="3657600" cy="82296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 Utilized Machine Learning (Random Forest &amp; Regression) for yield forecasting and market price prediction</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 Analyzed logged seasonal data to generate actionable productivity insights</a:t>
            </a:r>
            <a:endParaRPr lang="en-US" sz="1300" dirty="0"/>
          </a:p>
        </p:txBody>
      </p:sp>
      <p:sp>
        <p:nvSpPr>
          <p:cNvPr id="8" name="Shape 6"/>
          <p:cNvSpPr/>
          <p:nvPr/>
        </p:nvSpPr>
        <p:spPr>
          <a:xfrm>
            <a:off x="457200" y="2697480"/>
            <a:ext cx="365760" cy="365760"/>
          </a:xfrm>
          <a:prstGeom prst="ellipse">
            <a:avLst/>
          </a:prstGeom>
          <a:solidFill>
            <a:srgbClr val="2C5F2D"/>
          </a:solidFill>
          <a:ln/>
        </p:spPr>
      </p:sp>
      <p:sp>
        <p:nvSpPr>
          <p:cNvPr id="9" name="Text 7"/>
          <p:cNvSpPr/>
          <p:nvPr/>
        </p:nvSpPr>
        <p:spPr>
          <a:xfrm>
            <a:off x="457200" y="2697480"/>
            <a:ext cx="365760" cy="365760"/>
          </a:xfrm>
          <a:prstGeom prst="rect">
            <a:avLst/>
          </a:prstGeom>
          <a:noFill/>
          <a:ln/>
        </p:spPr>
        <p:txBody>
          <a:bodyPr wrap="square" rtlCol="0" anchor="ctr"/>
          <a:lstStyle/>
          <a:p>
            <a:pPr algn="ctr" indent="0" marL="0">
              <a:buNone/>
            </a:pPr>
            <a:r>
              <a:rPr lang="en-US" sz="1800" b="1" dirty="0">
                <a:solidFill>
                  <a:srgbClr val="FFFFFF"/>
                </a:solidFill>
              </a:rPr>
              <a:t>2</a:t>
            </a:r>
            <a:endParaRPr lang="en-US" sz="1800" dirty="0"/>
          </a:p>
        </p:txBody>
      </p:sp>
      <p:sp>
        <p:nvSpPr>
          <p:cNvPr id="10" name="Text 8"/>
          <p:cNvSpPr/>
          <p:nvPr/>
        </p:nvSpPr>
        <p:spPr>
          <a:xfrm>
            <a:off x="914400" y="2651760"/>
            <a:ext cx="3657600" cy="457200"/>
          </a:xfrm>
          <a:prstGeom prst="rect">
            <a:avLst/>
          </a:prstGeom>
          <a:noFill/>
          <a:ln/>
        </p:spPr>
        <p:txBody>
          <a:bodyPr wrap="square" rtlCol="0" anchor="ctr"/>
          <a:lstStyle/>
          <a:p>
            <a:pPr indent="0" marL="0">
              <a:buNone/>
            </a:pPr>
            <a:r>
              <a:rPr lang="en-US" sz="1600" b="1" dirty="0">
                <a:solidFill>
                  <a:srgbClr val="2C5F2D"/>
                </a:solidFill>
                <a:latin typeface="Georgia" pitchFamily="34" charset="0"/>
                <a:ea typeface="Georgia" pitchFamily="34" charset="-122"/>
                <a:cs typeface="Georgia" pitchFamily="34" charset="-120"/>
              </a:rPr>
              <a:t>Digital Agronomist Module</a:t>
            </a:r>
            <a:endParaRPr lang="en-US" sz="1600" dirty="0"/>
          </a:p>
        </p:txBody>
      </p:sp>
      <p:sp>
        <p:nvSpPr>
          <p:cNvPr id="11" name="Text 9"/>
          <p:cNvSpPr/>
          <p:nvPr/>
        </p:nvSpPr>
        <p:spPr>
          <a:xfrm>
            <a:off x="914400" y="3108960"/>
            <a:ext cx="3657600" cy="82296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 Developed computer vision models using TensorFlow Lite for instant disease detection</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 Implemented automated crop growth stage tracking for timely interventions</a:t>
            </a:r>
            <a:endParaRPr lang="en-US" sz="1300" dirty="0"/>
          </a:p>
        </p:txBody>
      </p:sp>
      <p:sp>
        <p:nvSpPr>
          <p:cNvPr id="12" name="Shape 10"/>
          <p:cNvSpPr/>
          <p:nvPr/>
        </p:nvSpPr>
        <p:spPr>
          <a:xfrm>
            <a:off x="457200" y="4114800"/>
            <a:ext cx="365760" cy="365760"/>
          </a:xfrm>
          <a:prstGeom prst="ellipse">
            <a:avLst/>
          </a:prstGeom>
          <a:solidFill>
            <a:srgbClr val="2C5F2D"/>
          </a:solidFill>
          <a:ln/>
        </p:spPr>
      </p:sp>
      <p:sp>
        <p:nvSpPr>
          <p:cNvPr id="13" name="Text 11"/>
          <p:cNvSpPr/>
          <p:nvPr/>
        </p:nvSpPr>
        <p:spPr>
          <a:xfrm>
            <a:off x="457200" y="4114800"/>
            <a:ext cx="365760" cy="365760"/>
          </a:xfrm>
          <a:prstGeom prst="rect">
            <a:avLst/>
          </a:prstGeom>
          <a:noFill/>
          <a:ln/>
        </p:spPr>
        <p:txBody>
          <a:bodyPr wrap="square" rtlCol="0" anchor="ctr"/>
          <a:lstStyle/>
          <a:p>
            <a:pPr algn="ctr" indent="0" marL="0">
              <a:buNone/>
            </a:pPr>
            <a:r>
              <a:rPr lang="en-US" sz="1800" b="1" dirty="0">
                <a:solidFill>
                  <a:srgbClr val="FFFFFF"/>
                </a:solidFill>
              </a:rPr>
              <a:t>3</a:t>
            </a:r>
            <a:endParaRPr lang="en-US" sz="1800" dirty="0"/>
          </a:p>
        </p:txBody>
      </p:sp>
      <p:sp>
        <p:nvSpPr>
          <p:cNvPr id="14" name="Text 12"/>
          <p:cNvSpPr/>
          <p:nvPr/>
        </p:nvSpPr>
        <p:spPr>
          <a:xfrm>
            <a:off x="914400" y="4069080"/>
            <a:ext cx="3657600" cy="457200"/>
          </a:xfrm>
          <a:prstGeom prst="rect">
            <a:avLst/>
          </a:prstGeom>
          <a:noFill/>
          <a:ln/>
        </p:spPr>
        <p:txBody>
          <a:bodyPr wrap="square" rtlCol="0" anchor="ctr"/>
          <a:lstStyle/>
          <a:p>
            <a:pPr indent="0" marL="0">
              <a:buNone/>
            </a:pPr>
            <a:r>
              <a:rPr lang="en-US" sz="1600" b="1" dirty="0">
                <a:solidFill>
                  <a:srgbClr val="2C5F2D"/>
                </a:solidFill>
                <a:latin typeface="Georgia" pitchFamily="34" charset="0"/>
                <a:ea typeface="Georgia" pitchFamily="34" charset="-122"/>
                <a:cs typeface="Georgia" pitchFamily="34" charset="-120"/>
              </a:rPr>
              <a:t>Smart Resource Management</a:t>
            </a:r>
            <a:endParaRPr lang="en-US" sz="1600" dirty="0"/>
          </a:p>
        </p:txBody>
      </p:sp>
      <p:sp>
        <p:nvSpPr>
          <p:cNvPr id="15" name="Text 13"/>
          <p:cNvSpPr/>
          <p:nvPr/>
        </p:nvSpPr>
        <p:spPr>
          <a:xfrm>
            <a:off x="914400" y="4526280"/>
            <a:ext cx="3657600" cy="82296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 Integrated weather and soil data algorithms for predictive irrigation alerts</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 Developed scientific fertilizer application recommendations based on crop needs</a:t>
            </a:r>
            <a:endParaRPr lang="en-US" sz="1300" dirty="0"/>
          </a:p>
        </p:txBody>
      </p:sp>
      <p:sp>
        <p:nvSpPr>
          <p:cNvPr id="16" name="Shape 14"/>
          <p:cNvSpPr/>
          <p:nvPr/>
        </p:nvSpPr>
        <p:spPr>
          <a:xfrm>
            <a:off x="4754880" y="1280160"/>
            <a:ext cx="365760" cy="365760"/>
          </a:xfrm>
          <a:prstGeom prst="ellipse">
            <a:avLst/>
          </a:prstGeom>
          <a:solidFill>
            <a:srgbClr val="97BC62"/>
          </a:solidFill>
          <a:ln/>
        </p:spPr>
      </p:sp>
      <p:sp>
        <p:nvSpPr>
          <p:cNvPr id="17" name="Text 15"/>
          <p:cNvSpPr/>
          <p:nvPr/>
        </p:nvSpPr>
        <p:spPr>
          <a:xfrm>
            <a:off x="4754880" y="1280160"/>
            <a:ext cx="365760" cy="365760"/>
          </a:xfrm>
          <a:prstGeom prst="rect">
            <a:avLst/>
          </a:prstGeom>
          <a:noFill/>
          <a:ln/>
        </p:spPr>
        <p:txBody>
          <a:bodyPr wrap="square" rtlCol="0" anchor="ctr"/>
          <a:lstStyle/>
          <a:p>
            <a:pPr algn="ctr" indent="0" marL="0">
              <a:buNone/>
            </a:pPr>
            <a:r>
              <a:rPr lang="en-US" sz="1800" b="1" dirty="0">
                <a:solidFill>
                  <a:srgbClr val="FFFFFF"/>
                </a:solidFill>
              </a:rPr>
              <a:t>4</a:t>
            </a:r>
            <a:endParaRPr lang="en-US" sz="1800" dirty="0"/>
          </a:p>
        </p:txBody>
      </p:sp>
      <p:sp>
        <p:nvSpPr>
          <p:cNvPr id="18" name="Text 16"/>
          <p:cNvSpPr/>
          <p:nvPr/>
        </p:nvSpPr>
        <p:spPr>
          <a:xfrm>
            <a:off x="5212080" y="1234440"/>
            <a:ext cx="3657600" cy="457200"/>
          </a:xfrm>
          <a:prstGeom prst="rect">
            <a:avLst/>
          </a:prstGeom>
          <a:noFill/>
          <a:ln/>
        </p:spPr>
        <p:txBody>
          <a:bodyPr wrap="square" rtlCol="0" anchor="ctr"/>
          <a:lstStyle/>
          <a:p>
            <a:pPr indent="0" marL="0">
              <a:buNone/>
            </a:pPr>
            <a:r>
              <a:rPr lang="en-US" sz="1600" b="1" dirty="0">
                <a:solidFill>
                  <a:srgbClr val="2C5F2D"/>
                </a:solidFill>
                <a:latin typeface="Georgia" pitchFamily="34" charset="0"/>
                <a:ea typeface="Georgia" pitchFamily="34" charset="-122"/>
                <a:cs typeface="Georgia" pitchFamily="34" charset="-120"/>
              </a:rPr>
              <a:t>Generative AI Farm Advisor</a:t>
            </a:r>
            <a:endParaRPr lang="en-US" sz="1600" dirty="0"/>
          </a:p>
        </p:txBody>
      </p:sp>
      <p:sp>
        <p:nvSpPr>
          <p:cNvPr id="19" name="Text 17"/>
          <p:cNvSpPr/>
          <p:nvPr/>
        </p:nvSpPr>
        <p:spPr>
          <a:xfrm>
            <a:off x="5212080" y="1691640"/>
            <a:ext cx="3657600" cy="82296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 Implemented RAG (Retrieval-Augmented Generation) architecture for context-aware agricultural advice</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 Chatbot provides localized farming guidance based on Kenya's agricultural practices</a:t>
            </a:r>
            <a:endParaRPr lang="en-US" sz="1300" dirty="0"/>
          </a:p>
        </p:txBody>
      </p:sp>
      <p:sp>
        <p:nvSpPr>
          <p:cNvPr id="20" name="Shape 18"/>
          <p:cNvSpPr/>
          <p:nvPr/>
        </p:nvSpPr>
        <p:spPr>
          <a:xfrm>
            <a:off x="4754880" y="2697480"/>
            <a:ext cx="365760" cy="365760"/>
          </a:xfrm>
          <a:prstGeom prst="ellipse">
            <a:avLst/>
          </a:prstGeom>
          <a:solidFill>
            <a:srgbClr val="97BC62"/>
          </a:solidFill>
          <a:ln/>
        </p:spPr>
      </p:sp>
      <p:sp>
        <p:nvSpPr>
          <p:cNvPr id="21" name="Text 19"/>
          <p:cNvSpPr/>
          <p:nvPr/>
        </p:nvSpPr>
        <p:spPr>
          <a:xfrm>
            <a:off x="4754880" y="2697480"/>
            <a:ext cx="365760" cy="365760"/>
          </a:xfrm>
          <a:prstGeom prst="rect">
            <a:avLst/>
          </a:prstGeom>
          <a:noFill/>
          <a:ln/>
        </p:spPr>
        <p:txBody>
          <a:bodyPr wrap="square" rtlCol="0" anchor="ctr"/>
          <a:lstStyle/>
          <a:p>
            <a:pPr algn="ctr" indent="0" marL="0">
              <a:buNone/>
            </a:pPr>
            <a:r>
              <a:rPr lang="en-US" sz="1800" b="1" dirty="0">
                <a:solidFill>
                  <a:srgbClr val="FFFFFF"/>
                </a:solidFill>
              </a:rPr>
              <a:t>5</a:t>
            </a:r>
            <a:endParaRPr lang="en-US" sz="1800" dirty="0"/>
          </a:p>
        </p:txBody>
      </p:sp>
      <p:sp>
        <p:nvSpPr>
          <p:cNvPr id="22" name="Text 20"/>
          <p:cNvSpPr/>
          <p:nvPr/>
        </p:nvSpPr>
        <p:spPr>
          <a:xfrm>
            <a:off x="5212080" y="2651760"/>
            <a:ext cx="3657600" cy="457200"/>
          </a:xfrm>
          <a:prstGeom prst="rect">
            <a:avLst/>
          </a:prstGeom>
          <a:noFill/>
          <a:ln/>
        </p:spPr>
        <p:txBody>
          <a:bodyPr wrap="square" rtlCol="0" anchor="ctr"/>
          <a:lstStyle/>
          <a:p>
            <a:pPr indent="0" marL="0">
              <a:buNone/>
            </a:pPr>
            <a:r>
              <a:rPr lang="en-US" sz="1600" b="1" dirty="0">
                <a:solidFill>
                  <a:srgbClr val="2C5F2D"/>
                </a:solidFill>
                <a:latin typeface="Georgia" pitchFamily="34" charset="0"/>
                <a:ea typeface="Georgia" pitchFamily="34" charset="-122"/>
                <a:cs typeface="Georgia" pitchFamily="34" charset="-120"/>
              </a:rPr>
              <a:t>Digital Monitoring &amp; Efficiency</a:t>
            </a:r>
            <a:endParaRPr lang="en-US" sz="1600" dirty="0"/>
          </a:p>
        </p:txBody>
      </p:sp>
      <p:sp>
        <p:nvSpPr>
          <p:cNvPr id="23" name="Text 21"/>
          <p:cNvSpPr/>
          <p:nvPr/>
        </p:nvSpPr>
        <p:spPr>
          <a:xfrm>
            <a:off x="5212080" y="3108960"/>
            <a:ext cx="3657600" cy="82296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 Assessed farm performance improvements through close digital monitoring</a:t>
            </a: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 Implemented labor scheduling features for operational efficiency optimization</a:t>
            </a:r>
            <a:endParaRPr lang="en-US" sz="1300" dirty="0"/>
          </a:p>
        </p:txBody>
      </p:sp>
      <p:sp>
        <p:nvSpPr>
          <p:cNvPr id="24" name="Shape 22"/>
          <p:cNvSpPr/>
          <p:nvPr/>
        </p:nvSpPr>
        <p:spPr>
          <a:xfrm>
            <a:off x="4754880" y="4114800"/>
            <a:ext cx="4114800" cy="1234440"/>
          </a:xfrm>
          <a:prstGeom prst="rect">
            <a:avLst/>
          </a:prstGeom>
          <a:solidFill>
            <a:srgbClr val="D4E7C5"/>
          </a:solidFill>
          <a:ln w="25400">
            <a:solidFill>
              <a:srgbClr val="97BC62"/>
            </a:solidFill>
            <a:prstDash val="solid"/>
          </a:ln>
        </p:spPr>
      </p:sp>
      <p:sp>
        <p:nvSpPr>
          <p:cNvPr id="25" name="Text 23"/>
          <p:cNvSpPr/>
          <p:nvPr/>
        </p:nvSpPr>
        <p:spPr>
          <a:xfrm>
            <a:off x="4937760" y="4251960"/>
            <a:ext cx="3749040" cy="365760"/>
          </a:xfrm>
          <a:prstGeom prst="rect">
            <a:avLst/>
          </a:prstGeom>
          <a:noFill/>
          <a:ln/>
        </p:spPr>
        <p:txBody>
          <a:bodyPr wrap="square" rtlCol="0" anchor="ctr"/>
          <a:lstStyle/>
          <a:p>
            <a:pPr indent="0" marL="0">
              <a:buNone/>
            </a:pPr>
            <a:r>
              <a:rPr lang="en-US" sz="1500" b="1" dirty="0">
                <a:solidFill>
                  <a:srgbClr val="2C5F2D"/>
                </a:solidFill>
                <a:latin typeface="Georgia" pitchFamily="34" charset="0"/>
                <a:ea typeface="Georgia" pitchFamily="34" charset="-122"/>
                <a:cs typeface="Georgia" pitchFamily="34" charset="-120"/>
              </a:rPr>
              <a:t>Technology Stack</a:t>
            </a:r>
            <a:endParaRPr lang="en-US" sz="1500" dirty="0"/>
          </a:p>
        </p:txBody>
      </p:sp>
      <p:sp>
        <p:nvSpPr>
          <p:cNvPr id="26" name="Text 24"/>
          <p:cNvSpPr/>
          <p:nvPr/>
        </p:nvSpPr>
        <p:spPr>
          <a:xfrm>
            <a:off x="4937760" y="4617720"/>
            <a:ext cx="3749040" cy="685800"/>
          </a:xfrm>
          <a:prstGeom prst="rect">
            <a:avLst/>
          </a:prstGeom>
          <a:noFill/>
          <a:ln/>
        </p:spPr>
        <p:txBody>
          <a:bodyPr wrap="square" rtlCol="0" anchor="t"/>
          <a:lstStyle/>
          <a:p>
            <a:pPr indent="0" marL="0">
              <a:buNone/>
            </a:pPr>
            <a:r>
              <a:rPr lang="en-US" sz="1200" dirty="0">
                <a:solidFill>
                  <a:srgbClr val="1A1A1A"/>
                </a:solidFill>
                <a:latin typeface="Calibri" pitchFamily="34" charset="0"/>
                <a:ea typeface="Calibri" pitchFamily="34" charset="-122"/>
                <a:cs typeface="Calibri" pitchFamily="34" charset="-120"/>
              </a:rPr>
              <a:t>Frontend: React Native (cross-platform)</a:t>
            </a: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Backend: Node.js + MongoDB</a:t>
            </a: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AI/ML: TensorFlow Lite, Random Forest</a:t>
            </a: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RAG: Generative AI chatbot</a:t>
            </a:r>
            <a:endParaRPr lang="en-US" sz="1200" dirty="0"/>
          </a:p>
          <a:p>
            <a:pPr indent="0" marL="0">
              <a:buNone/>
            </a:pPr>
            <a:r>
              <a:rPr lang="en-US" sz="1200" dirty="0">
                <a:solidFill>
                  <a:srgbClr val="1A1A1A"/>
                </a:solidFill>
                <a:latin typeface="Calibri" pitchFamily="34" charset="0"/>
                <a:ea typeface="Calibri" pitchFamily="34" charset="-122"/>
                <a:cs typeface="Calibri" pitchFamily="34" charset="-120"/>
              </a:rPr>
              <a:t>Integrations: Weather APIs, Push Notifications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Key Achievements &amp; Computer Science Impact</a:t>
            </a:r>
            <a:endParaRPr lang="en-US" sz="3600" dirty="0"/>
          </a:p>
        </p:txBody>
      </p:sp>
      <p:sp>
        <p:nvSpPr>
          <p:cNvPr id="3" name="Shape 1"/>
          <p:cNvSpPr/>
          <p:nvPr/>
        </p:nvSpPr>
        <p:spPr>
          <a:xfrm>
            <a:off x="457200" y="1051560"/>
            <a:ext cx="3657600" cy="73152"/>
          </a:xfrm>
          <a:prstGeom prst="rect">
            <a:avLst/>
          </a:prstGeom>
          <a:solidFill>
            <a:srgbClr val="97BC62"/>
          </a:solidFill>
          <a:ln/>
        </p:spPr>
      </p:sp>
      <p:sp>
        <p:nvSpPr>
          <p:cNvPr id="4" name="Shape 2"/>
          <p:cNvSpPr/>
          <p:nvPr/>
        </p:nvSpPr>
        <p:spPr>
          <a:xfrm>
            <a:off x="457200" y="1371600"/>
            <a:ext cx="8229600" cy="1645920"/>
          </a:xfrm>
          <a:prstGeom prst="rect">
            <a:avLst/>
          </a:prstGeom>
          <a:solidFill>
            <a:srgbClr val="F5F5F5"/>
          </a:solidFill>
          <a:ln w="38100">
            <a:solidFill>
              <a:srgbClr val="97BC62"/>
            </a:solidFill>
            <a:prstDash val="solid"/>
          </a:ln>
        </p:spPr>
      </p:sp>
      <p:sp>
        <p:nvSpPr>
          <p:cNvPr id="5" name="Text 3"/>
          <p:cNvSpPr/>
          <p:nvPr/>
        </p:nvSpPr>
        <p:spPr>
          <a:xfrm>
            <a:off x="731520" y="1508760"/>
            <a:ext cx="7680960" cy="457200"/>
          </a:xfrm>
          <a:prstGeom prst="rect">
            <a:avLst/>
          </a:prstGeom>
          <a:noFill/>
          <a:ln/>
        </p:spPr>
        <p:txBody>
          <a:bodyPr wrap="square" rtlCol="0" anchor="ctr"/>
          <a:lstStyle/>
          <a:p>
            <a:pPr indent="0" marL="0">
              <a:buNone/>
            </a:pPr>
            <a:r>
              <a:rPr lang="en-US" sz="2200" b="1" dirty="0">
                <a:solidFill>
                  <a:srgbClr val="2C5F2D"/>
                </a:solidFill>
                <a:latin typeface="Georgia" pitchFamily="34" charset="0"/>
                <a:ea typeface="Georgia" pitchFamily="34" charset="-122"/>
                <a:cs typeface="Georgia" pitchFamily="34" charset="-120"/>
              </a:rPr>
              <a:t>🏆 Main Achievement</a:t>
            </a:r>
            <a:endParaRPr lang="en-US" sz="2200" dirty="0"/>
          </a:p>
        </p:txBody>
      </p:sp>
      <p:sp>
        <p:nvSpPr>
          <p:cNvPr id="6" name="Text 4"/>
          <p:cNvSpPr/>
          <p:nvPr/>
        </p:nvSpPr>
        <p:spPr>
          <a:xfrm>
            <a:off x="731520" y="1965960"/>
            <a:ext cx="7680960" cy="914400"/>
          </a:xfrm>
          <a:prstGeom prst="rect">
            <a:avLst/>
          </a:prstGeom>
          <a:noFill/>
          <a:ln/>
        </p:spPr>
        <p:txBody>
          <a:bodyPr wrap="square" rtlCol="0" anchor="t"/>
          <a:lstStyle/>
          <a:p>
            <a:pPr algn="l" indent="0" marL="0">
              <a:buNone/>
            </a:pPr>
            <a:r>
              <a:rPr lang="en-US" sz="1500" dirty="0">
                <a:solidFill>
                  <a:srgbClr val="1A1A1A"/>
                </a:solidFill>
                <a:latin typeface="Calibri" pitchFamily="34" charset="0"/>
                <a:ea typeface="Calibri" pitchFamily="34" charset="-122"/>
                <a:cs typeface="Calibri" pitchFamily="34" charset="-120"/>
              </a:rPr>
              <a:t>Successfully developed and deployed AgroTrack+, a comprehensive mobile-based smart farm management system that integrates AI-powered disease detection, predictive analytics, and intelligent advisory services to address the critical challenges faced by smallholder farmers in Kenya. The system demonstrates practical application of Computer Vision, Machine Learning, and Generative AI in solving real-world agricultural problems.</a:t>
            </a:r>
            <a:endParaRPr lang="en-US" sz="1500" dirty="0"/>
          </a:p>
        </p:txBody>
      </p:sp>
      <p:sp>
        <p:nvSpPr>
          <p:cNvPr id="7" name="Text 5"/>
          <p:cNvSpPr/>
          <p:nvPr/>
        </p:nvSpPr>
        <p:spPr>
          <a:xfrm>
            <a:off x="457200" y="3200400"/>
            <a:ext cx="8229600" cy="457200"/>
          </a:xfrm>
          <a:prstGeom prst="rect">
            <a:avLst/>
          </a:prstGeom>
          <a:noFill/>
          <a:ln/>
        </p:spPr>
        <p:txBody>
          <a:bodyPr wrap="square" rtlCol="0" anchor="ctr"/>
          <a:lstStyle/>
          <a:p>
            <a:pPr indent="0" marL="0">
              <a:buNone/>
            </a:pPr>
            <a:r>
              <a:rPr lang="en-US" sz="2400" b="1" dirty="0">
                <a:solidFill>
                  <a:srgbClr val="F5F5F5"/>
                </a:solidFill>
                <a:latin typeface="Georgia" pitchFamily="34" charset="0"/>
                <a:ea typeface="Georgia" pitchFamily="34" charset="-122"/>
                <a:cs typeface="Georgia" pitchFamily="34" charset="-120"/>
              </a:rPr>
              <a:t>Computer Science Impact</a:t>
            </a:r>
            <a:endParaRPr lang="en-US" sz="2400" dirty="0"/>
          </a:p>
        </p:txBody>
      </p:sp>
      <p:sp>
        <p:nvSpPr>
          <p:cNvPr id="8" name="Shape 6"/>
          <p:cNvSpPr/>
          <p:nvPr/>
        </p:nvSpPr>
        <p:spPr>
          <a:xfrm>
            <a:off x="457200" y="3749040"/>
            <a:ext cx="2560320" cy="2011680"/>
          </a:xfrm>
          <a:prstGeom prst="rect">
            <a:avLst/>
          </a:prstGeom>
          <a:solidFill>
            <a:srgbClr val="F5F5F5"/>
          </a:solidFill>
          <a:ln w="25400">
            <a:solidFill>
              <a:srgbClr val="97BC62"/>
            </a:solidFill>
            <a:prstDash val="solid"/>
          </a:ln>
        </p:spPr>
      </p:sp>
      <p:sp>
        <p:nvSpPr>
          <p:cNvPr id="9" name="Text 7"/>
          <p:cNvSpPr/>
          <p:nvPr/>
        </p:nvSpPr>
        <p:spPr>
          <a:xfrm>
            <a:off x="548640" y="3886200"/>
            <a:ext cx="2377440" cy="3657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0" name="Text 8"/>
          <p:cNvSpPr/>
          <p:nvPr/>
        </p:nvSpPr>
        <p:spPr>
          <a:xfrm>
            <a:off x="548640" y="4297680"/>
            <a:ext cx="2377440" cy="365760"/>
          </a:xfrm>
          <a:prstGeom prst="rect">
            <a:avLst/>
          </a:prstGeom>
          <a:noFill/>
          <a:ln/>
        </p:spPr>
        <p:txBody>
          <a:bodyPr wrap="square" rtlCol="0" anchor="ctr"/>
          <a:lstStyle/>
          <a:p>
            <a:pPr algn="ctr" indent="0" marL="0">
              <a:buNone/>
            </a:pPr>
            <a:r>
              <a:rPr lang="en-US" sz="1400" b="1" dirty="0">
                <a:solidFill>
                  <a:srgbClr val="2C5F2D"/>
                </a:solidFill>
                <a:latin typeface="Georgia" pitchFamily="34" charset="0"/>
                <a:ea typeface="Georgia" pitchFamily="34" charset="-122"/>
                <a:cs typeface="Georgia" pitchFamily="34" charset="-120"/>
              </a:rPr>
              <a:t>AI &amp; Machine Learning</a:t>
            </a:r>
            <a:endParaRPr lang="en-US" sz="1400" dirty="0"/>
          </a:p>
        </p:txBody>
      </p:sp>
      <p:sp>
        <p:nvSpPr>
          <p:cNvPr id="11" name="Text 9"/>
          <p:cNvSpPr/>
          <p:nvPr/>
        </p:nvSpPr>
        <p:spPr>
          <a:xfrm>
            <a:off x="640080" y="4709160"/>
            <a:ext cx="2194560" cy="914400"/>
          </a:xfrm>
          <a:prstGeom prst="rect">
            <a:avLst/>
          </a:prstGeom>
          <a:noFill/>
          <a:ln/>
        </p:spPr>
        <p:txBody>
          <a:bodyPr wrap="square"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Applied Deep Learning (TensorFlow Lite) for real-time image classification and disease detection with optimized on-device inference</a:t>
            </a:r>
            <a:endParaRPr lang="en-US" sz="1100" dirty="0"/>
          </a:p>
        </p:txBody>
      </p:sp>
      <p:sp>
        <p:nvSpPr>
          <p:cNvPr id="12" name="Shape 10"/>
          <p:cNvSpPr/>
          <p:nvPr/>
        </p:nvSpPr>
        <p:spPr>
          <a:xfrm>
            <a:off x="3200400" y="3749040"/>
            <a:ext cx="2560320" cy="2011680"/>
          </a:xfrm>
          <a:prstGeom prst="rect">
            <a:avLst/>
          </a:prstGeom>
          <a:solidFill>
            <a:srgbClr val="F5F5F5"/>
          </a:solidFill>
          <a:ln w="25400">
            <a:solidFill>
              <a:srgbClr val="97BC62"/>
            </a:solidFill>
            <a:prstDash val="solid"/>
          </a:ln>
        </p:spPr>
      </p:sp>
      <p:sp>
        <p:nvSpPr>
          <p:cNvPr id="13" name="Text 11"/>
          <p:cNvSpPr/>
          <p:nvPr/>
        </p:nvSpPr>
        <p:spPr>
          <a:xfrm>
            <a:off x="3291840" y="3886200"/>
            <a:ext cx="2377440" cy="3657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4" name="Text 12"/>
          <p:cNvSpPr/>
          <p:nvPr/>
        </p:nvSpPr>
        <p:spPr>
          <a:xfrm>
            <a:off x="3291840" y="4297680"/>
            <a:ext cx="2377440" cy="365760"/>
          </a:xfrm>
          <a:prstGeom prst="rect">
            <a:avLst/>
          </a:prstGeom>
          <a:noFill/>
          <a:ln/>
        </p:spPr>
        <p:txBody>
          <a:bodyPr wrap="square" rtlCol="0" anchor="ctr"/>
          <a:lstStyle/>
          <a:p>
            <a:pPr algn="ctr" indent="0" marL="0">
              <a:buNone/>
            </a:pPr>
            <a:r>
              <a:rPr lang="en-US" sz="1400" b="1" dirty="0">
                <a:solidFill>
                  <a:srgbClr val="2C5F2D"/>
                </a:solidFill>
                <a:latin typeface="Georgia" pitchFamily="34" charset="0"/>
                <a:ea typeface="Georgia" pitchFamily="34" charset="-122"/>
                <a:cs typeface="Georgia" pitchFamily="34" charset="-120"/>
              </a:rPr>
              <a:t>Predictive Analytics</a:t>
            </a:r>
            <a:endParaRPr lang="en-US" sz="1400" dirty="0"/>
          </a:p>
        </p:txBody>
      </p:sp>
      <p:sp>
        <p:nvSpPr>
          <p:cNvPr id="15" name="Text 13"/>
          <p:cNvSpPr/>
          <p:nvPr/>
        </p:nvSpPr>
        <p:spPr>
          <a:xfrm>
            <a:off x="3383280" y="4709160"/>
            <a:ext cx="2194560" cy="914400"/>
          </a:xfrm>
          <a:prstGeom prst="rect">
            <a:avLst/>
          </a:prstGeom>
          <a:noFill/>
          <a:ln/>
        </p:spPr>
        <p:txBody>
          <a:bodyPr wrap="square"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Implemented ML algorithms (Random Forest, Regression) for yield forecasting and market price prediction using historical farm data</a:t>
            </a:r>
            <a:endParaRPr lang="en-US" sz="1100" dirty="0"/>
          </a:p>
        </p:txBody>
      </p:sp>
      <p:sp>
        <p:nvSpPr>
          <p:cNvPr id="16" name="Shape 14"/>
          <p:cNvSpPr/>
          <p:nvPr/>
        </p:nvSpPr>
        <p:spPr>
          <a:xfrm>
            <a:off x="5943600" y="3749040"/>
            <a:ext cx="2560320" cy="2011680"/>
          </a:xfrm>
          <a:prstGeom prst="rect">
            <a:avLst/>
          </a:prstGeom>
          <a:solidFill>
            <a:srgbClr val="F5F5F5"/>
          </a:solidFill>
          <a:ln w="25400">
            <a:solidFill>
              <a:srgbClr val="97BC62"/>
            </a:solidFill>
            <a:prstDash val="solid"/>
          </a:ln>
        </p:spPr>
      </p:sp>
      <p:sp>
        <p:nvSpPr>
          <p:cNvPr id="17" name="Text 15"/>
          <p:cNvSpPr/>
          <p:nvPr/>
        </p:nvSpPr>
        <p:spPr>
          <a:xfrm>
            <a:off x="6035040" y="3886200"/>
            <a:ext cx="2377440" cy="365760"/>
          </a:xfrm>
          <a:prstGeom prst="rect">
            <a:avLst/>
          </a:prstGeom>
          <a:noFill/>
          <a:ln/>
        </p:spPr>
        <p:txBody>
          <a:bodyPr wrap="square" rtlCol="0" anchor="ctr"/>
          <a:lstStyle/>
          <a:p>
            <a:pPr algn="ctr" indent="0" marL="0">
              <a:buNone/>
            </a:pPr>
            <a:r>
              <a:rPr lang="en-US" sz="3200" dirty="0">
                <a:solidFill>
                  <a:srgbClr val="000000"/>
                </a:solidFill>
              </a:rPr>
              <a:t>⚙️</a:t>
            </a:r>
            <a:endParaRPr lang="en-US" sz="3200" dirty="0"/>
          </a:p>
        </p:txBody>
      </p:sp>
      <p:sp>
        <p:nvSpPr>
          <p:cNvPr id="18" name="Text 16"/>
          <p:cNvSpPr/>
          <p:nvPr/>
        </p:nvSpPr>
        <p:spPr>
          <a:xfrm>
            <a:off x="6035040" y="4297680"/>
            <a:ext cx="2377440" cy="365760"/>
          </a:xfrm>
          <a:prstGeom prst="rect">
            <a:avLst/>
          </a:prstGeom>
          <a:noFill/>
          <a:ln/>
        </p:spPr>
        <p:txBody>
          <a:bodyPr wrap="square" rtlCol="0" anchor="ctr"/>
          <a:lstStyle/>
          <a:p>
            <a:pPr algn="ctr" indent="0" marL="0">
              <a:buNone/>
            </a:pPr>
            <a:r>
              <a:rPr lang="en-US" sz="1400" b="1" dirty="0">
                <a:solidFill>
                  <a:srgbClr val="2C5F2D"/>
                </a:solidFill>
                <a:latin typeface="Georgia" pitchFamily="34" charset="0"/>
                <a:ea typeface="Georgia" pitchFamily="34" charset="-122"/>
                <a:cs typeface="Georgia" pitchFamily="34" charset="-120"/>
              </a:rPr>
              <a:t>Full-Stack Development</a:t>
            </a:r>
            <a:endParaRPr lang="en-US" sz="1400" dirty="0"/>
          </a:p>
        </p:txBody>
      </p:sp>
      <p:sp>
        <p:nvSpPr>
          <p:cNvPr id="19" name="Text 17"/>
          <p:cNvSpPr/>
          <p:nvPr/>
        </p:nvSpPr>
        <p:spPr>
          <a:xfrm>
            <a:off x="6126480" y="4709160"/>
            <a:ext cx="2194560" cy="914400"/>
          </a:xfrm>
          <a:prstGeom prst="rect">
            <a:avLst/>
          </a:prstGeom>
          <a:noFill/>
          <a:ln/>
        </p:spPr>
        <p:txBody>
          <a:bodyPr wrap="square" rtlCol="0" anchor="t"/>
          <a:lstStyle/>
          <a:p>
            <a:pPr algn="ctr" indent="0" marL="0">
              <a:buNone/>
            </a:pPr>
            <a:r>
              <a:rPr lang="en-US" sz="1100" dirty="0">
                <a:solidFill>
                  <a:srgbClr val="1A1A1A"/>
                </a:solidFill>
                <a:latin typeface="Calibri" pitchFamily="34" charset="0"/>
                <a:ea typeface="Calibri" pitchFamily="34" charset="-122"/>
                <a:cs typeface="Calibri" pitchFamily="34" charset="-120"/>
              </a:rPr>
              <a:t>Built scalable cross-platform mobile architecture (React Native) with RESTful API backend and NoSQL database integration</a:t>
            </a:r>
            <a:endParaRPr lang="en-US" sz="1100" dirty="0"/>
          </a:p>
        </p:txBody>
      </p:sp>
      <p:sp>
        <p:nvSpPr>
          <p:cNvPr id="20" name="Shape 18"/>
          <p:cNvSpPr/>
          <p:nvPr/>
        </p:nvSpPr>
        <p:spPr>
          <a:xfrm>
            <a:off x="457200" y="5943600"/>
            <a:ext cx="8229600" cy="640080"/>
          </a:xfrm>
          <a:prstGeom prst="rect">
            <a:avLst/>
          </a:prstGeom>
          <a:solidFill>
            <a:srgbClr val="97BC62"/>
          </a:solidFill>
          <a:ln/>
        </p:spPr>
      </p:sp>
      <p:sp>
        <p:nvSpPr>
          <p:cNvPr id="21" name="Text 19"/>
          <p:cNvSpPr/>
          <p:nvPr/>
        </p:nvSpPr>
        <p:spPr>
          <a:xfrm>
            <a:off x="640080" y="6035040"/>
            <a:ext cx="7863840" cy="45720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 DEMONSTRATION: Disease Detection Module + Farm Analytics Dashboard</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AgroTrack+ Presentation</dc:title>
  <dc:subject>Smart Agriculture Management System</dc:subject>
  <dc:creator>Wanyiri Mark, Ndumia Victor, Mugendi Rodgers</dc:creator>
  <cp:lastModifiedBy>Wanyiri Mark, Ndumia Victor, Mugendi Rodgers</cp:lastModifiedBy>
  <cp:revision>1</cp:revision>
  <dcterms:created xsi:type="dcterms:W3CDTF">2026-02-13T06:26:57Z</dcterms:created>
  <dcterms:modified xsi:type="dcterms:W3CDTF">2026-02-13T06:26:57Z</dcterms:modified>
</cp:coreProperties>
</file>