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-scm.com/" TargetMode="External"/><Relationship Id="rId2" Type="http://schemas.openxmlformats.org/officeDocument/2006/relationships/hyperlink" Target="https://www.atlassian.com/git" TargetMode="External"/><Relationship Id="rId3" Type="http://schemas.openxmlformats.org/officeDocument/2006/relationships/hyperlink" Target="https://docs.github.com/en/get-started/quickstart/set-up-git" TargetMode="External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43118"/>
            <a:ext cx="110873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 – Distributed Version Control System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2055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 Rodgers Munene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8235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Date: December 15, 2025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952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 to Git: The Backbone of Modern Development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0070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is an indispensable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Distributed Version Control System (DVCS)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revolutionized how software is developed. It tracks changes in source code during software development, ensuring efficient collaboration and project integrity.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66674"/>
            <a:ext cx="479869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Version Control Matters</a:t>
            </a:r>
            <a:endParaRPr lang="en-US" sz="2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8800" y="4639151"/>
            <a:ext cx="340162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0906" y="4632127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Collaboration &amp; Coordination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5476875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multiple developers to work on the same project simultaneously without overwriting each other's work.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0903" y="4639151"/>
            <a:ext cx="340162" cy="3401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73008" y="4632127"/>
            <a:ext cx="33614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History &amp; Accountability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973008" y="5122545"/>
            <a:ext cx="342149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Maintains a complete history of changes, allowing developers to track who made what changes, when, and why. Facilitates easy rollback to previous stable versions.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63006" y="4639151"/>
            <a:ext cx="340162" cy="3401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415111" y="4632127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Branching &amp; Experimentation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10415111" y="5476875"/>
            <a:ext cx="342149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isolated development lines, enabling safe experimentation with new features or bug fixes without affecting the main codebase.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3658" y="551021"/>
            <a:ext cx="8420933" cy="619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Origins of Git: Born from Necessity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93658" y="1646039"/>
            <a:ext cx="6379726" cy="951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was created by </a:t>
            </a:r>
            <a:pPr algn="l" indent="0" marL="0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Linus Torvalds</a:t>
            </a:r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 creator of the Linux kernel, in </a:t>
            </a:r>
            <a:pPr algn="l" indent="0" marL="0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2005</a:t>
            </a:r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Before Git, the Linux kernel community used a proprietary DVCS called BitKeeper.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93658" y="2820472"/>
            <a:ext cx="6379726" cy="2218492"/>
          </a:xfrm>
          <a:prstGeom prst="roundRect">
            <a:avLst>
              <a:gd name="adj" fmla="val 4946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0798" y="2820472"/>
            <a:ext cx="91440" cy="2218492"/>
          </a:xfrm>
          <a:prstGeom prst="roundRect">
            <a:avLst>
              <a:gd name="adj" fmla="val 91046"/>
            </a:avLst>
          </a:prstGeom>
          <a:solidFill>
            <a:srgbClr val="2B0AFF"/>
          </a:solidFill>
          <a:ln/>
        </p:spPr>
      </p:sp>
      <p:sp>
        <p:nvSpPr>
          <p:cNvPr id="6" name="Text 4"/>
          <p:cNvSpPr/>
          <p:nvPr/>
        </p:nvSpPr>
        <p:spPr>
          <a:xfrm>
            <a:off x="983218" y="3041452"/>
            <a:ext cx="3276838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BitKeeper Controversy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83218" y="3549253"/>
            <a:ext cx="5869186" cy="1268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the BitKeeper license was revoked for free use, Torvalds needed a new, open-source version control system that could handle the immense scale and speed requirements of the Linux kernel development.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93658" y="5237083"/>
            <a:ext cx="6379726" cy="2218492"/>
          </a:xfrm>
          <a:prstGeom prst="roundRect">
            <a:avLst>
              <a:gd name="adj" fmla="val 4946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0798" y="5237083"/>
            <a:ext cx="91440" cy="2218492"/>
          </a:xfrm>
          <a:prstGeom prst="roundRect">
            <a:avLst>
              <a:gd name="adj" fmla="val 91046"/>
            </a:avLst>
          </a:prstGeom>
          <a:solidFill>
            <a:srgbClr val="2B0AFF"/>
          </a:solidFill>
          <a:ln/>
        </p:spPr>
      </p:sp>
      <p:sp>
        <p:nvSpPr>
          <p:cNvPr id="10" name="Text 8"/>
          <p:cNvSpPr/>
          <p:nvPr/>
        </p:nvSpPr>
        <p:spPr>
          <a:xfrm>
            <a:off x="983218" y="5458063"/>
            <a:ext cx="2892504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System Built for Scale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3218" y="5965865"/>
            <a:ext cx="5869186" cy="1268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was designed with key principles in mind: high speed, simple design, strong support for non-linear development (thousands of parallel branches), fully distributed capabilities, and the ability to handle large projects efficiently.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564636" y="1646039"/>
            <a:ext cx="6379726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Linus Torvalds, the visionary behind Git and Linux.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562" y="542568"/>
            <a:ext cx="7433905" cy="616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Git Works: Core Concepts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690562" y="1553885"/>
            <a:ext cx="789265" cy="1183958"/>
          </a:xfrm>
          <a:prstGeom prst="roundRect">
            <a:avLst>
              <a:gd name="adj" fmla="val 360037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7141" y="1997750"/>
            <a:ext cx="295989" cy="2959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77114" y="1751171"/>
            <a:ext cx="246661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Repositories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677114" y="2177891"/>
            <a:ext cx="12262723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pPr algn="l" indent="0" marL="0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repository</a:t>
            </a:r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a central place where all the project files and their revision history are stored. It can be local or remote.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90562" y="2935129"/>
            <a:ext cx="789265" cy="1452563"/>
          </a:xfrm>
          <a:prstGeom prst="roundRect">
            <a:avLst>
              <a:gd name="adj" fmla="val 360037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141" y="3513296"/>
            <a:ext cx="295989" cy="29598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77114" y="3132415"/>
            <a:ext cx="246661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Commits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677114" y="3559135"/>
            <a:ext cx="12262723" cy="631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pPr algn="l" indent="0" marL="0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</a:t>
            </a:r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records changes to the repository. It's a snapshot of your project at a specific point in time, with an associated message describing the changes.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90562" y="4584978"/>
            <a:ext cx="789265" cy="1452563"/>
          </a:xfrm>
          <a:prstGeom prst="roundRect">
            <a:avLst>
              <a:gd name="adj" fmla="val 360037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141" y="5163145"/>
            <a:ext cx="295989" cy="29598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77114" y="4782264"/>
            <a:ext cx="246661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Branches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1677114" y="5208984"/>
            <a:ext cx="12262723" cy="631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Branches</a:t>
            </a:r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 independent lines of development. They allow developers to work on new features or bug fixes in isolation from the main codebase.</a:t>
            </a:r>
            <a:endParaRPr lang="en-US" sz="1550" dirty="0"/>
          </a:p>
        </p:txBody>
      </p:sp>
      <p:sp>
        <p:nvSpPr>
          <p:cNvPr id="15" name="Shape 10"/>
          <p:cNvSpPr/>
          <p:nvPr/>
        </p:nvSpPr>
        <p:spPr>
          <a:xfrm>
            <a:off x="690562" y="6234827"/>
            <a:ext cx="789265" cy="1452563"/>
          </a:xfrm>
          <a:prstGeom prst="roundRect">
            <a:avLst>
              <a:gd name="adj" fmla="val 360037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7141" y="6812994"/>
            <a:ext cx="295989" cy="29598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77114" y="6432113"/>
            <a:ext cx="246661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Merging</a:t>
            </a:r>
            <a:endParaRPr lang="en-US" sz="1900" dirty="0"/>
          </a:p>
        </p:txBody>
      </p:sp>
      <p:sp>
        <p:nvSpPr>
          <p:cNvPr id="18" name="Text 12"/>
          <p:cNvSpPr/>
          <p:nvPr/>
        </p:nvSpPr>
        <p:spPr>
          <a:xfrm>
            <a:off x="1677114" y="6858833"/>
            <a:ext cx="12262723" cy="631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Merging</a:t>
            </a:r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combines the changes from one branch into another, integrating new features or fixes back into the main development line.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2475"/>
            <a:ext cx="123982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 Deep Dive: Branching and Merging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28230"/>
            <a:ext cx="397335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Power of Branching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680335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Git's branching model is one of its most powerful features. It encourages a highly flexible and collaborative workflow: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973116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Branches: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Developers create dedicated branches for new features, ensuring the main codebase remains stable.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4111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Hotfix Branches: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Urgent bug fixes can be addressed quickly on separate branches without disrupting ongoing development.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6309122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Branches: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Specific branches can be created for releases, allowing for final testing and bug squashing.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2028230"/>
            <a:ext cx="577084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Seamless Integration with Merging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7599521" y="2680335"/>
            <a:ext cx="6244709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Once changes on a branch are complete and tested, they are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merged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back into the parent branch (often the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master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branch). Git intelligently handles conflicts when different branches modify the same parts of the code.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6067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 &amp; Applications: Powering Global Development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87253"/>
            <a:ext cx="4196358" cy="3545324"/>
          </a:xfrm>
          <a:prstGeom prst="roundRect">
            <a:avLst>
              <a:gd name="adj" fmla="val 2687"/>
            </a:avLst>
          </a:prstGeom>
          <a:solidFill>
            <a:srgbClr val="272525"/>
          </a:solidFill>
          <a:ln w="30480">
            <a:solidFill>
              <a:srgbClr val="2A1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044547"/>
            <a:ext cx="31582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Software Development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3534966"/>
            <a:ext cx="368177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is the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standard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version control in almost all software companies, from small startups to large enterprises. It facilitates agile methodologies and continuous delivery.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787253"/>
            <a:ext cx="4196358" cy="3545324"/>
          </a:xfrm>
          <a:prstGeom prst="roundRect">
            <a:avLst>
              <a:gd name="adj" fmla="val 2687"/>
            </a:avLst>
          </a:prstGeom>
          <a:solidFill>
            <a:srgbClr val="272525"/>
          </a:solidFill>
          <a:ln w="30480">
            <a:solidFill>
              <a:srgbClr val="2A1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74256" y="30445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CI/CD Pipelines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74256" y="3534966"/>
            <a:ext cx="368177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seamlessly with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Integration/Continuous Delivery (CI/CD)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pipelines, Git automates testing and deployment processes, accelerating development cycles.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787253"/>
            <a:ext cx="4196358" cy="3545324"/>
          </a:xfrm>
          <a:prstGeom prst="roundRect">
            <a:avLst>
              <a:gd name="adj" fmla="val 2687"/>
            </a:avLst>
          </a:prstGeom>
          <a:solidFill>
            <a:srgbClr val="272525"/>
          </a:solidFill>
          <a:ln w="30480">
            <a:solidFill>
              <a:srgbClr val="2A1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97427" y="3044547"/>
            <a:ext cx="30602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Open-Source Projects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97427" y="3534966"/>
            <a:ext cx="368177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vast majority of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open-source projects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including the Linux kernel, rely on Git for their collaborative development model, fostering innovation and community contributions.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658772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Industries such as finance, healthcare, automotive, and gaming extensively leverage Git for managing their complex software ecosystems.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170634"/>
            <a:ext cx="108479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Real-World Reliance: Giants Built on Git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33304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tech giants to innovative startups, Git forms the foundation of their development workflows. Platforms like GitHub, GitLab, and Bitbucket have emerged as essential hubs for Git-based collaboration, hosting millions of repositories.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56159"/>
            <a:ext cx="121518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Prospects: Evolving with Technology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1856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evolution of version control continues, with Git remaining at its core. Future trends focus on enhancing developer experience and scaling for even larger projects: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799523"/>
            <a:ext cx="13042821" cy="2773799"/>
          </a:xfrm>
          <a:prstGeom prst="roundRect">
            <a:avLst>
              <a:gd name="adj" fmla="val 3435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807143"/>
            <a:ext cx="4342448" cy="2758559"/>
          </a:xfrm>
          <a:prstGeom prst="roundRect">
            <a:avLst>
              <a:gd name="adj" fmla="val 3454"/>
            </a:avLst>
          </a:prstGeom>
          <a:solidFill>
            <a:srgbClr val="110080"/>
          </a:solidFill>
          <a:ln/>
        </p:spPr>
      </p:sp>
      <p:sp>
        <p:nvSpPr>
          <p:cNvPr id="6" name="Text 4"/>
          <p:cNvSpPr/>
          <p:nvPr/>
        </p:nvSpPr>
        <p:spPr>
          <a:xfrm>
            <a:off x="1028224" y="4033957"/>
            <a:ext cx="35486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Cloud-Native Development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8224" y="4878705"/>
            <a:ext cx="35486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Deeper integration with cloud platforms, offering enhanced scalability and accessibility for repositories and workflows.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143857" y="3807143"/>
            <a:ext cx="4342567" cy="2758559"/>
          </a:xfrm>
          <a:prstGeom prst="rect">
            <a:avLst/>
          </a:prstGeom>
          <a:solidFill>
            <a:srgbClr val="110080"/>
          </a:solidFill>
          <a:ln/>
        </p:spPr>
      </p:sp>
      <p:sp>
        <p:nvSpPr>
          <p:cNvPr id="9" name="Shape 7"/>
          <p:cNvSpPr/>
          <p:nvPr/>
        </p:nvSpPr>
        <p:spPr>
          <a:xfrm>
            <a:off x="5143857" y="3807143"/>
            <a:ext cx="30480" cy="2758559"/>
          </a:xfrm>
          <a:prstGeom prst="roundRect">
            <a:avLst>
              <a:gd name="adj" fmla="val 312558"/>
            </a:avLst>
          </a:prstGeom>
          <a:solidFill>
            <a:srgbClr val="2A1999"/>
          </a:solidFill>
          <a:ln/>
        </p:spPr>
      </p:sp>
      <p:sp>
        <p:nvSpPr>
          <p:cNvPr id="10" name="Text 8"/>
          <p:cNvSpPr/>
          <p:nvPr/>
        </p:nvSpPr>
        <p:spPr>
          <a:xfrm>
            <a:off x="5710833" y="40339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AI-Assisted Tools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710833" y="4524375"/>
            <a:ext cx="32086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Emerging AI tools are being developed to assist with code reviews, conflict resolution, and even intelligent branching strategies.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4860369" y="4902875"/>
            <a:ext cx="566976" cy="566976"/>
          </a:xfrm>
          <a:prstGeom prst="roundRect">
            <a:avLst>
              <a:gd name="adj" fmla="val 16803"/>
            </a:avLst>
          </a:prstGeom>
          <a:solidFill>
            <a:srgbClr val="272525"/>
          </a:solidFill>
          <a:ln w="30480">
            <a:solidFill>
              <a:srgbClr val="2A19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86424" y="3807143"/>
            <a:ext cx="4342567" cy="2758559"/>
          </a:xfrm>
          <a:prstGeom prst="rect">
            <a:avLst/>
          </a:prstGeom>
          <a:solidFill>
            <a:srgbClr val="110080"/>
          </a:solidFill>
          <a:ln/>
        </p:spPr>
      </p:sp>
      <p:sp>
        <p:nvSpPr>
          <p:cNvPr id="14" name="Shape 12"/>
          <p:cNvSpPr/>
          <p:nvPr/>
        </p:nvSpPr>
        <p:spPr>
          <a:xfrm>
            <a:off x="9486424" y="3807143"/>
            <a:ext cx="30480" cy="2758559"/>
          </a:xfrm>
          <a:prstGeom prst="roundRect">
            <a:avLst>
              <a:gd name="adj" fmla="val 312558"/>
            </a:avLst>
          </a:prstGeom>
          <a:solidFill>
            <a:srgbClr val="2A1999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3399" y="40339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Enhanced Security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3399" y="4524375"/>
            <a:ext cx="354877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focus on securing software supply chains and ensuring the integrity of code throughout the development lifecycle.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9202936" y="4902875"/>
            <a:ext cx="566976" cy="566976"/>
          </a:xfrm>
          <a:prstGeom prst="roundRect">
            <a:avLst>
              <a:gd name="adj" fmla="val 16803"/>
            </a:avLst>
          </a:prstGeom>
          <a:solidFill>
            <a:srgbClr val="272525"/>
          </a:solidFill>
          <a:ln w="30480">
            <a:solidFill>
              <a:srgbClr val="2A1999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9829"/>
            <a:ext cx="129089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Conclusion: Git – A Groundbreaking Innovation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5223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stands as a monumental innovation in computer science, fundamentally changing the landscape of software development.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973354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272525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942874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2B0AFF"/>
          </a:solidFill>
          <a:ln/>
        </p:spPr>
      </p:sp>
      <p:sp>
        <p:nvSpPr>
          <p:cNvPr id="6" name="Shape 4"/>
          <p:cNvSpPr/>
          <p:nvPr/>
        </p:nvSpPr>
        <p:spPr>
          <a:xfrm>
            <a:off x="2551688" y="363319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B0AFF"/>
          </a:solidFill>
          <a:ln/>
        </p:spPr>
      </p:sp>
      <p:sp>
        <p:nvSpPr>
          <p:cNvPr id="7" name="Text 5"/>
          <p:cNvSpPr/>
          <p:nvPr/>
        </p:nvSpPr>
        <p:spPr>
          <a:xfrm>
            <a:off x="2755761" y="380333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51084" y="4540329"/>
            <a:ext cx="36618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Empowering Collaboration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084" y="5030748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enables seamless teamwork and efficient project management for distributed teams worldwide.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6962" y="3973354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272525"/>
          </a:solidFill>
          <a:ln/>
        </p:spPr>
      </p:sp>
      <p:sp>
        <p:nvSpPr>
          <p:cNvPr id="11" name="Shape 9"/>
          <p:cNvSpPr/>
          <p:nvPr/>
        </p:nvSpPr>
        <p:spPr>
          <a:xfrm>
            <a:off x="5216962" y="3942874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2B0A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974860" y="363319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B0AFF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933" y="380333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474256" y="45403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Ensuring Integrity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74256" y="5030748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Its robust version tracking and history capabilities safeguard code and facilitate agile adjustments.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9640133" y="3973354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272525"/>
          </a:solidFill>
          <a:ln/>
        </p:spPr>
      </p:sp>
      <p:sp>
        <p:nvSpPr>
          <p:cNvPr id="17" name="Shape 15"/>
          <p:cNvSpPr/>
          <p:nvPr/>
        </p:nvSpPr>
        <p:spPr>
          <a:xfrm>
            <a:off x="9640133" y="3942874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2B0A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98032" y="363319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2B0AFF"/>
          </a:solidFill>
          <a:ln/>
        </p:spPr>
      </p:sp>
      <p:sp>
        <p:nvSpPr>
          <p:cNvPr id="19" name="Text 17"/>
          <p:cNvSpPr/>
          <p:nvPr/>
        </p:nvSpPr>
        <p:spPr>
          <a:xfrm>
            <a:off x="11602105" y="380333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897427" y="45403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Driving Innovation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897427" y="5030748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providing a flexible and powerful platform, Git continues to accelerate the pace of software innovation globally.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24996"/>
            <a:ext cx="82342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References &amp; Further Reading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07801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u="sng" dirty="0">
                <a:solidFill>
                  <a:srgbClr val="7B66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Official Git Website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52020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u="sng" dirty="0">
                <a:solidFill>
                  <a:srgbClr val="7B66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Atlassian Git Tutorial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96240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u="sng" dirty="0">
                <a:solidFill>
                  <a:srgbClr val="7B66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Docs: Set up Git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4078010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these resources to deepen your understanding of Git and its powerful capabilities. Continuous learning is key to mastering modern development workflows.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2025-12-15T08:58:04Z</dcterms:created>
  <dcterms:modified xsi:type="dcterms:W3CDTF">2025-12-15T08:58:04Z</dcterms:modified>
</cp:coreProperties>
</file>